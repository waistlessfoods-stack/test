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c6d1eea4264009" /><Relationship Type="http://schemas.openxmlformats.org/officeDocument/2006/relationships/extended-properties" Target="/docProps/app.xml" Id="Rc32edba5b88749a7" /><Relationship Type="http://schemas.openxmlformats.org/officeDocument/2006/relationships/officeDocument" Target="/ppt/presentation.xml" Id="R2f83e16846ab4990" /></Relationships>
</file>

<file path=ppt/presentation.xml><?xml version="1.0" encoding="utf-8"?>
<p:presentation xmlns:p="http://schemas.openxmlformats.org/presentationml/2006/main">
  <p:sldMasterIdLst>
    <p:sldMasterId xmlns:r="http://schemas.openxmlformats.org/officeDocument/2006/relationships" id="2147483648" r:id="R94d34b2a74dd4eba"/>
  </p:sldMasterIdLst>
  <p:notesMasterIdLst>
    <p:notesMasterId xmlns:r="http://schemas.openxmlformats.org/officeDocument/2006/relationships" r:id="Rc6ddb465b32b4512"/>
  </p:notesMasterIdLst>
  <p:sldIdLst>
    <p:sldId xmlns:r="http://schemas.openxmlformats.org/officeDocument/2006/relationships" id="256" r:id="Rb958bab521ab4f86"/>
    <p:sldId xmlns:r="http://schemas.openxmlformats.org/officeDocument/2006/relationships" id="257" r:id="Rbceafccd4dc24f27"/>
    <p:sldId xmlns:r="http://schemas.openxmlformats.org/officeDocument/2006/relationships" id="258" r:id="R7e24692f3fcc4b17"/>
    <p:sldId xmlns:r="http://schemas.openxmlformats.org/officeDocument/2006/relationships" id="259" r:id="R9f386eddb0274332"/>
    <p:sldId xmlns:r="http://schemas.openxmlformats.org/officeDocument/2006/relationships" id="260" r:id="Rb3763b61288b4e06"/>
    <p:sldId xmlns:r="http://schemas.openxmlformats.org/officeDocument/2006/relationships" id="261" r:id="R2ef3fc9d62474256"/>
    <p:sldId xmlns:r="http://schemas.openxmlformats.org/officeDocument/2006/relationships" id="262" r:id="Re52768cd7d17481a"/>
    <p:sldId xmlns:r="http://schemas.openxmlformats.org/officeDocument/2006/relationships" id="263" r:id="R83241dd6a64b4d99"/>
    <p:sldId xmlns:r="http://schemas.openxmlformats.org/officeDocument/2006/relationships" id="264" r:id="Rd7d04bc81d144b9e"/>
    <p:sldId xmlns:r="http://schemas.openxmlformats.org/officeDocument/2006/relationships" id="265" r:id="Rf7fb3d77949d40f4"/>
    <p:sldId xmlns:r="http://schemas.openxmlformats.org/officeDocument/2006/relationships" id="266" r:id="R7cee76f259f247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5ef3118f134fed" /><Relationship Type="http://schemas.openxmlformats.org/officeDocument/2006/relationships/slideMaster" Target="/ppt/slideMasters/slideMaster1.xml" Id="R94d34b2a74dd4eba" /><Relationship Type="http://schemas.openxmlformats.org/officeDocument/2006/relationships/notesMaster" Target="/ppt/notesMasters/notesMaster1.xml" Id="Rc6ddb465b32b4512" /><Relationship Type="http://schemas.openxmlformats.org/officeDocument/2006/relationships/presProps" Target="/ppt/presProps.xml" Id="R8f6beb9666f1434e" /><Relationship Type="http://schemas.openxmlformats.org/officeDocument/2006/relationships/tableStyles" Target="/ppt/tableStyles.xml" Id="Rbe20da9ac4ff4ee6" /><Relationship Type="http://schemas.openxmlformats.org/officeDocument/2006/relationships/slide" Target="/ppt/slides/slide1.xml" Id="Rb958bab521ab4f86" /><Relationship Type="http://schemas.openxmlformats.org/officeDocument/2006/relationships/slide" Target="/ppt/slides/slide2.xml" Id="Rbceafccd4dc24f27" /><Relationship Type="http://schemas.openxmlformats.org/officeDocument/2006/relationships/slide" Target="/ppt/slides/slide3.xml" Id="R7e24692f3fcc4b17" /><Relationship Type="http://schemas.openxmlformats.org/officeDocument/2006/relationships/slide" Target="/ppt/slides/slide4.xml" Id="R9f386eddb0274332" /><Relationship Type="http://schemas.openxmlformats.org/officeDocument/2006/relationships/slide" Target="/ppt/slides/slide5.xml" Id="Rb3763b61288b4e06" /><Relationship Type="http://schemas.openxmlformats.org/officeDocument/2006/relationships/slide" Target="/ppt/slides/slide6.xml" Id="R2ef3fc9d62474256" /><Relationship Type="http://schemas.openxmlformats.org/officeDocument/2006/relationships/slide" Target="/ppt/slides/slide7.xml" Id="Re52768cd7d17481a" /><Relationship Type="http://schemas.openxmlformats.org/officeDocument/2006/relationships/slide" Target="/ppt/slides/slide8.xml" Id="R83241dd6a64b4d99" /><Relationship Type="http://schemas.openxmlformats.org/officeDocument/2006/relationships/slide" Target="/ppt/slides/slide9.xml" Id="Rd7d04bc81d144b9e" /><Relationship Type="http://schemas.openxmlformats.org/officeDocument/2006/relationships/slide" Target="/ppt/slides/slide10.xml" Id="Rf7fb3d77949d40f4" /><Relationship Type="http://schemas.openxmlformats.org/officeDocument/2006/relationships/slide" Target="/ppt/slides/slide11.xml" Id="R7cee76f259f247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5fb9ba8a0448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b60949d0104fd9" /><Relationship Type="http://schemas.openxmlformats.org/officeDocument/2006/relationships/notesMaster" Target="/ppt/notesMasters/notesMaster1.xml" Id="R00f8932f1a3f42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cd8ee91df84b16" /><Relationship Type="http://schemas.openxmlformats.org/officeDocument/2006/relationships/notesMaster" Target="/ppt/notesMasters/notesMaster1.xml" Id="R037ab1ac5d6c43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c4e9f7c32c44eb" /><Relationship Type="http://schemas.openxmlformats.org/officeDocument/2006/relationships/notesMaster" Target="/ppt/notesMasters/notesMaster1.xml" Id="Reb3a1b580eb54d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e0f1446b994c99" /><Relationship Type="http://schemas.openxmlformats.org/officeDocument/2006/relationships/notesMaster" Target="/ppt/notesMasters/notesMaster1.xml" Id="R9e7b6b4fc20843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729e1e754f4286" /><Relationship Type="http://schemas.openxmlformats.org/officeDocument/2006/relationships/notesMaster" Target="/ppt/notesMasters/notesMaster1.xml" Id="Rf16157e8717b49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504e023a024f4d" /><Relationship Type="http://schemas.openxmlformats.org/officeDocument/2006/relationships/notesMaster" Target="/ppt/notesMasters/notesMaster1.xml" Id="R10e48fbeb41842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ce1385c0d643d5" /><Relationship Type="http://schemas.openxmlformats.org/officeDocument/2006/relationships/notesMaster" Target="/ppt/notesMasters/notesMaster1.xml" Id="Ra45a72b4d86641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08ae3ade8a4293" /><Relationship Type="http://schemas.openxmlformats.org/officeDocument/2006/relationships/notesMaster" Target="/ppt/notesMasters/notesMaster1.xml" Id="Rd8c8aaba429e4c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e666ddf613409f" /><Relationship Type="http://schemas.openxmlformats.org/officeDocument/2006/relationships/notesMaster" Target="/ppt/notesMasters/notesMaster1.xml" Id="R9d6a75a4bca841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76a46fc306470a" /><Relationship Type="http://schemas.openxmlformats.org/officeDocument/2006/relationships/notesMaster" Target="/ppt/notesMasters/notesMaster1.xml" Id="R8dea378b2fcd45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33cb69ce3a4d78" /><Relationship Type="http://schemas.openxmlformats.org/officeDocument/2006/relationships/notesMaster" Target="/ppt/notesMasters/notesMaster1.xml" Id="Rc972d3d1b18f45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The guide is a practical training resource and contains no retainer prices or sales sections. Customer pages may require the separate preview password or customer account sign-in. Screenshot source: live read-only capture of https://www.waistlessfoods.com/admin/walkthrough on October 30,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revised draft support proposal dated October 30, 2026, output/pdf/WaistLess-Foods-Support-Proposal-Draft.pdf. This is an illustrative plan pending a team estimate and final scope, not committed monthly quantities. One newsletter draft uses the existing template, up to 600 words of supplied final copy, one call-to-action link, and one consolidated revision round. Each of four static graphics has one agreed message and size, based on approved templates, with one consolidated revision round. Each of two content updates covers one existing page or recipe entry using final supplied text and one supplied image. Website checks and minor fixes must fit the agreed technical scope. The monthly review is up to 30 minutes. Ask which work Amber actually wants to hand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Reusing the same approved theme and assets helps plan the newsletter and promotional graphics together. The team must estimate the effort before committing to the sample quantities shown on slide 4.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trial is optional and starts only after we agree on the current project closeout, scope, budget, and staffing in writing. Ask what support Amber wants before proposing a package.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Close the normal presentation here. Ask permission conversationally to prepare a tailored written proposal after learning her workload and budget. Only show the hidden appendix manually if she asks about pricing.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APPENDIX. Normal slideshow playback skips this slide. Show it manually only if Amber asks about budget after discussing her recurring tasks. Source: revised draft support proposal dated October 30, 2026. Website support is provisionally USD $300 per month with up to five combined service hours for technical work and coordination. Monthly Website &amp; Content Support is provisionally USD $700 per month with fifteen combined staff hours: five technical, eight design/admin, and two coordination/review. These are planning limits in the detailed terms, not extra production time above the sample deliverables. Meetings, revisions, testing, and reporting count. The content plan on slide 4 is illustrative and must be estimated before quantities are promised. Confirm staffing, full delivery cost, and final scope before issuing a quote. One newsletter draft, four graphics, two updates, a website check with small fixes, and a monthly review are the proposed example, not a committed output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6802f9ea0641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46fa394f4f47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68e50d15fb4d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b083f4ffa74e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f3609e485e4f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91eb3c1d3c41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B7085C-22DA-4455-AF99-57A47EEDEA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2EB1DC-66F3-4B75-9AE2-485294929E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30AB4F-D4EE-4620-9976-16AC36AFE4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B15622-DB85-418B-A427-C0C2D05825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DCB070-ABDD-4AFB-B54D-F7152BE1666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F0500A-7C87-4111-8D7D-A245BAD5AE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435332-50B6-4143-9AE6-CCEAC648EC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11A741-5CD0-4BFE-8676-0032762107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00AC88-E13F-40E4-B28A-6B2B186C48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054D84-89B2-448F-84AF-CA3554A4F3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6998622cc4ab3" /><Relationship Type="http://schemas.openxmlformats.org/officeDocument/2006/relationships/slideLayout" Target="/ppt/slideLayouts/slideLayout1.xml" Id="R06c24e215c95468d" /><Relationship Type="http://schemas.openxmlformats.org/officeDocument/2006/relationships/slideLayout" Target="/ppt/slideLayouts/slideLayout2.xml" Id="R599c23cf97f14ad2" /><Relationship Type="http://schemas.openxmlformats.org/officeDocument/2006/relationships/slideLayout" Target="/ppt/slideLayouts/slideLayout3.xml" Id="R86a13536e0264840" /><Relationship Type="http://schemas.openxmlformats.org/officeDocument/2006/relationships/slideLayout" Target="/ppt/slideLayouts/slideLayout4.xml" Id="R885bf1fafc844d94" /><Relationship Type="http://schemas.openxmlformats.org/officeDocument/2006/relationships/slideLayout" Target="/ppt/slideLayouts/slideLayout5.xml" Id="Rab1c052f7f714ae8" /><Relationship Type="http://schemas.openxmlformats.org/officeDocument/2006/relationships/slideLayout" Target="/ppt/slideLayouts/slideLayout6.xml" Id="R93124498125e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c24e215c95468d"/>
    <p:sldLayoutId xmlns:r="http://schemas.openxmlformats.org/officeDocument/2006/relationships" id="2147483650" r:id="R599c23cf97f14ad2"/>
    <p:sldLayoutId xmlns:r="http://schemas.openxmlformats.org/officeDocument/2006/relationships" id="2147483651" r:id="R86a13536e0264840"/>
    <p:sldLayoutId xmlns:r="http://schemas.openxmlformats.org/officeDocument/2006/relationships" id="2147483652" r:id="R885bf1fafc844d94"/>
    <p:sldLayoutId xmlns:r="http://schemas.openxmlformats.org/officeDocument/2006/relationships" id="2147483653" r:id="Rab1c052f7f714ae8"/>
    <p:sldLayoutId xmlns:r="http://schemas.openxmlformats.org/officeDocument/2006/relationships" id="2147483654" r:id="R93124498125e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d39dd725c24b77" /><Relationship Type="http://schemas.openxmlformats.org/officeDocument/2006/relationships/image" Target="/ppt/media/image.jpeg" Id="R1000c1a4ff134e14" /><Relationship Type="http://schemas.openxmlformats.org/officeDocument/2006/relationships/notesSlide" Target="/ppt/notesSlides/notesSlide1.xml" Id="Rd139b0e733a64b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06236d749d476a" /><Relationship Type="http://schemas.openxmlformats.org/officeDocument/2006/relationships/notesSlide" Target="/ppt/notesSlides/notesSlide2.xml" Id="Rdf3cbf50589b44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fafa23b79a4e18" /><Relationship Type="http://schemas.openxmlformats.org/officeDocument/2006/relationships/hyperlink" Target="https://www.waistlessfoods.com/admin/walkthrough#website-tour" TargetMode="External" Id="R40c6c307b435482c" /><Relationship Type="http://schemas.openxmlformats.org/officeDocument/2006/relationships/image" Target="/ppt/media/image.png" Id="R6a161e2d226d48f7" /><Relationship Type="http://schemas.openxmlformats.org/officeDocument/2006/relationships/notesSlide" Target="/ppt/notesSlides/notesSlide3.xml" Id="Rd55b05b9da0843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cd08d9265d4fec" /><Relationship Type="http://schemas.openxmlformats.org/officeDocument/2006/relationships/notesSlide" Target="/ppt/notesSlides/notesSlide4.xml" Id="Rdba0a7a1df1446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b5d748dce34a5a" /><Relationship Type="http://schemas.openxmlformats.org/officeDocument/2006/relationships/notesSlide" Target="/ppt/notesSlides/notesSlide5.xml" Id="R02c6a3c6ba9b45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1dd971b0124871" /><Relationship Type="http://schemas.openxmlformats.org/officeDocument/2006/relationships/notesSlide" Target="/ppt/notesSlides/notesSlide6.xml" Id="Rf4d4a8d7d87248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60af13c4824c50" /><Relationship Type="http://schemas.openxmlformats.org/officeDocument/2006/relationships/notesSlide" Target="/ppt/notesSlides/notesSlide7.xml" Id="R707762d0e03444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20b3c7806942a4" /><Relationship Type="http://schemas.openxmlformats.org/officeDocument/2006/relationships/notesSlide" Target="/ppt/notesSlides/notesSlide8.xml" Id="R5f307e5de4ff4d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6393a12c3d4ba2" /><Relationship Type="http://schemas.openxmlformats.org/officeDocument/2006/relationships/notesSlide" Target="/ppt/notesSlides/notesSlide9.xml" Id="R3599469049f640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042e4774944f8e" /><Relationship Type="http://schemas.openxmlformats.org/officeDocument/2006/relationships/image" Target="/ppt/media/image2.png" Id="R88494ed3afba44dd" /><Relationship Type="http://schemas.openxmlformats.org/officeDocument/2006/relationships/hyperlink" Target="https://www.waistlessfoods.com/admin/walkthrough#website-tour" TargetMode="External" Id="R819bf4311d544251" /><Relationship Type="http://schemas.openxmlformats.org/officeDocument/2006/relationships/notesSlide" Target="/ppt/notesSlides/notesSlide10.xml" Id="Rbaf57fbfd14342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93165727e2a46e9" /><Relationship Type="http://schemas.openxmlformats.org/officeDocument/2006/relationships/notesSlide" Target="/ppt/notesSlides/notesSlide11.xml" Id="R8a8cdbf049cf4d5d"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584CF41-29CB-42EF-BF7D-9B55C8231815}"/>
              </a:ext>
            </a:extLst>
          </p:cNvPr>
          <p:cNvPicPr>
            <a:picLocks xmlns:a="http://schemas.openxmlformats.org/drawingml/2006/main" noChangeAspect="1"/>
          </p:cNvPicPr>
          <p:nvPr/>
        </p:nvPicPr>
        <p:blipFill>
          <a:blip xmlns:r="http://schemas.openxmlformats.org/officeDocument/2006/relationships" xmlns:a="http://schemas.openxmlformats.org/drawingml/2006/main" r:embed="R1000c1a4ff134e14"/>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2F5B396-4502-4217-AEE1-91D58544E9B5}"/>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B4F68CB3-D0B0-4E2A-BAFB-4B130CA45B7A}"/>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AC4BBA62-2B7D-4629-9804-53DF84A3AFD7}"/>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AEE5C7B2-8EF2-4368-95E1-8F6B6520C6AE}"/>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1658172740"/>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7F250ED3-E2A5-4557-8A05-E59DE5BC16E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CD67EC83-5271-447D-8985-7DC6A35D34BE}"/>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ECBB13D4-CC81-44E3-BDCF-CEB0B22BA0EC}"/>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D454617F-8B2E-47A9-A900-9D825723DAD3}"/>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9A4EB1D4-A55F-4199-9474-2AFDE9617632}"/>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843978584"/>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AA5888D5-94A7-43F9-90E5-DB5E5FA6C45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BE680B32-8374-4B04-AF89-7EC05FFA8694}"/>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189E06ED-E284-460E-BB57-6E6D37DA0BDC}"/>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46471F6D-12DC-4EF1-87CB-618FAB87EF95}"/>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ACB44BF8-4278-4C7C-8BFD-497C7A8158E8}"/>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keeps each step and its page links together while we review.</a:t>
            </a:r>
          </a:p>
        </p:txBody>
      </p:sp>
      <p:sp>
        <p:nvSpPr>
          <p:cNvPr id="6" name="text-14">
            <a:extLst xmlns:a="http://schemas.openxmlformats.org/drawingml/2006/main">
              <a:ext uri="{FF2B5EF4-FFF2-40B4-BE49-F238E27FC236}">
                <a16:creationId xmlns:a16="http://schemas.microsoft.com/office/drawing/2014/main" id="{2C2DE367-5B2A-4F21-BEAF-90F8771BF446}"/>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40c6c307b435482c"/>
              </a:rPr>
              <a:t>Open the live walkthrough</a:t>
            </a:r>
          </a:p>
        </p:txBody>
      </p:sp>
      <p:sp>
        <p:nvSpPr>
          <p:cNvPr id="7" name="text-15">
            <a:extLst xmlns:a="http://schemas.openxmlformats.org/drawingml/2006/main">
              <a:ext uri="{FF2B5EF4-FFF2-40B4-BE49-F238E27FC236}">
                <a16:creationId xmlns:a16="http://schemas.microsoft.com/office/drawing/2014/main" id="{C10B0FB5-C72C-4287-ACD0-680D67F1E52B}"/>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73247BE8-EBDB-4560-B56E-7CEEBEDE015E}"/>
              </a:ext>
            </a:extLst>
          </p:cNvPr>
          <p:cNvPicPr>
            <a:picLocks xmlns:a="http://schemas.openxmlformats.org/drawingml/2006/main" noChangeAspect="1"/>
          </p:cNvPicPr>
          <p:nvPr/>
        </p:nvPicPr>
        <p:blipFill>
          <a:blip xmlns:r="http://schemas.openxmlformats.org/officeDocument/2006/relationships" xmlns:a="http://schemas.openxmlformats.org/drawingml/2006/main" r:embed="R6a161e2d226d48f7"/>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1846731900"/>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16">
            <a:extLst xmlns:a="http://schemas.openxmlformats.org/drawingml/2006/main">
              <a:ext uri="{FF2B5EF4-FFF2-40B4-BE49-F238E27FC236}">
                <a16:creationId xmlns:a16="http://schemas.microsoft.com/office/drawing/2014/main" id="{44D523DF-BC54-4A18-98C6-FFB4121BEA3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An example month of support</a:t>
            </a:r>
          </a:p>
        </p:txBody>
      </p:sp>
      <p:sp>
        <p:nvSpPr>
          <p:cNvPr id="2" name="text-17">
            <a:extLst xmlns:a="http://schemas.openxmlformats.org/drawingml/2006/main">
              <a:ext uri="{FF2B5EF4-FFF2-40B4-BE49-F238E27FC236}">
                <a16:creationId xmlns:a16="http://schemas.microsoft.com/office/drawing/2014/main" id="{EAD5C859-A59E-4C67-A7C7-17B94BB3706B}"/>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7F6F76A7-0499-4A63-AFD2-C5D49EB3941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6C06EEB7-1BE8-46C1-9EDC-05241C3C44FB}"/>
              </a:ext>
            </a:extLst>
          </p:cNvPr>
          <p:cNvGraphicFramePr/>
          <p:nvPr/>
        </p:nvGraphicFramePr>
        <p:xfrm>
          <a:off xmlns:a="http://schemas.openxmlformats.org/drawingml/2006/main" x="666750" y="1666875"/>
          <a:ext xmlns:a="http://schemas.openxmlformats.org/drawingml/2006/main" cx="10858500" cy="3762375"/>
        </p:xfrm>
        <a:graphic xmlns:a="http://schemas.openxmlformats.org/drawingml/2006/main">
          <a:graphicData uri="http://schemas.openxmlformats.org/drawingml/2006/table">
            <a:tbl>
              <a:tblPr/>
              <a:tblGrid>
                <a:gridCol w="4191000"/>
                <a:gridCol w="6667500"/>
              </a:tblGrid>
              <a:tr h="627063">
                <a:tc>
                  <a:txBody>
                    <a:bodyPr lIns="152400" tIns="152400" rIns="152400" bIns="152400"/>
                    <a:lstStyle/>
                    <a:p>
                      <a:r>
                        <a:rPr sz="1800" b="1">
                          <a:solidFill>
                            <a:srgbClr val="FFFFFF"/>
                          </a:solidFill>
                          <a:latin typeface="Arial"/>
                          <a:ea typeface="Arial"/>
                          <a:cs typeface="Arial"/>
                        </a:rPr>
                        <a:t>Work we prepare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it helps you do</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27063">
                <a:tc>
                  <a:txBody>
                    <a:bodyPr lIns="152400" tIns="152400" rIns="152400" bIns="152400"/>
                    <a:lstStyle/>
                    <a:p>
                      <a:r>
                        <a:rPr sz="1800" b="0">
                          <a:solidFill>
                            <a:srgbClr val="173D40"/>
                          </a:solidFill>
                          <a:latin typeface="Arial"/>
                          <a:ea typeface="Arial"/>
                          <a:cs typeface="Arial"/>
                        </a:rPr>
                        <a:t>1 newsletter draft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Keep subscribers informed without doing the formatting</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27063">
                <a:tc>
                  <a:txBody>
                    <a:bodyPr lIns="152400" tIns="152400" rIns="152400" bIns="152400"/>
                    <a:lstStyle/>
                    <a:p>
                      <a:r>
                        <a:rPr sz="1800" b="0">
                          <a:solidFill>
                            <a:srgbClr val="173D40"/>
                          </a:solidFill>
                          <a:latin typeface="Arial"/>
                          <a:ea typeface="Arial"/>
                          <a:cs typeface="Arial"/>
                        </a:rPr>
                        <a:t>4 promotional graphics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Share recipes, services, or class announcements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27063">
                <a:tc>
                  <a:txBody>
                    <a:bodyPr lIns="152400" tIns="152400" rIns="152400" bIns="152400"/>
                    <a:lstStyle/>
                    <a:p>
                      <a:r>
                        <a:rPr sz="1800" b="0">
                          <a:solidFill>
                            <a:srgbClr val="173D40"/>
                          </a:solidFill>
                          <a:latin typeface="Arial"/>
                          <a:ea typeface="Arial"/>
                          <a:cs typeface="Arial"/>
                        </a:rPr>
                        <a:t>2 website content updates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Keep recipes and existing pages current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27063">
                <a:tc>
                  <a:txBody>
                    <a:bodyPr lIns="152400" tIns="152400" rIns="152400" bIns="152400"/>
                    <a:lstStyle/>
                    <a:p>
                      <a:r>
                        <a:rPr sz="1800" b="0">
                          <a:solidFill>
                            <a:srgbClr val="173D40"/>
                          </a:solidFill>
                          <a:latin typeface="Arial"/>
                          <a:ea typeface="Arial"/>
                          <a:cs typeface="Arial"/>
                        </a:rPr>
                        <a:t>1 website check and small fixes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Have someone review the site and follow up on issues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27063">
                <a:tc>
                  <a:txBody>
                    <a:bodyPr lIns="152400" tIns="152400" rIns="152400" bIns="152400"/>
                    <a:lstStyle/>
                    <a:p>
                      <a:r>
                        <a:rPr sz="1800" b="0">
                          <a:solidFill>
                            <a:srgbClr val="173D40"/>
                          </a:solidFill>
                          <a:latin typeface="Arial"/>
                          <a:ea typeface="Arial"/>
                          <a:cs typeface="Arial"/>
                        </a:rPr>
                        <a:t>One contact and a monthly review</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Delegate without managing several people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19">
            <a:extLst xmlns:a="http://schemas.openxmlformats.org/drawingml/2006/main">
              <a:ext uri="{FF2B5EF4-FFF2-40B4-BE49-F238E27FC236}">
                <a16:creationId xmlns:a16="http://schemas.microsoft.com/office/drawing/2014/main" id="{A1A41397-DA84-4C1C-B3FC-DB68D71C9E99}"/>
              </a:ext>
            </a:extLst>
          </p:cNvPr>
          <p:cNvSpPr>
            <a:spLocks xmlns:a="http://schemas.openxmlformats.org/drawingml/2006/main" noGrp="1"/>
          </p:cNvSpPr>
          <p:nvPr/>
        </p:nvSpPr>
        <p:spPr>
          <a:xfrm xmlns:a="http://schemas.openxmlformats.org/drawingml/2006/main">
            <a:off x="666750" y="56483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You provide the ideas and approve the work. Zul coordinates the team.</a:t>
            </a:r>
          </a:p>
        </p:txBody>
      </p:sp>
      <p:sp>
        <p:nvSpPr>
          <p:cNvPr id="6" name="text-20">
            <a:extLst xmlns:a="http://schemas.openxmlformats.org/drawingml/2006/main">
              <a:ext uri="{FF2B5EF4-FFF2-40B4-BE49-F238E27FC236}">
                <a16:creationId xmlns:a16="http://schemas.microsoft.com/office/drawing/2014/main" id="{E398ECED-B3EF-4457-BF79-2EDFF22F85EB}"/>
              </a:ext>
            </a:extLst>
          </p:cNvPr>
          <p:cNvSpPr>
            <a:spLocks xmlns:a="http://schemas.openxmlformats.org/drawingml/2006/main" noGrp="1"/>
          </p:cNvSpPr>
          <p:nvPr/>
        </p:nvSpPr>
        <p:spPr>
          <a:xfrm xmlns:a="http://schemas.openxmlformats.org/drawingml/2006/main">
            <a:off x="666750" y="60579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Illustrative plan. Confirm team estimates and final scope before committing quantities.</a:t>
            </a:r>
          </a:p>
        </p:txBody>
      </p:sp>
    </p:spTree>
    <p:extLst>
      <p:ext uri="{BB962C8B-B14F-4D97-AF65-F5344CB8AC3E}">
        <p14:creationId xmlns:p14="http://schemas.microsoft.com/office/powerpoint/2010/main" val="204519840"/>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1">
            <a:extLst xmlns:a="http://schemas.openxmlformats.org/drawingml/2006/main">
              <a:ext uri="{FF2B5EF4-FFF2-40B4-BE49-F238E27FC236}">
                <a16:creationId xmlns:a16="http://schemas.microsoft.com/office/drawing/2014/main" id="{F9A120FC-063F-405A-9819-92ABBAC3218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2">
            <a:extLst xmlns:a="http://schemas.openxmlformats.org/drawingml/2006/main">
              <a:ext uri="{FF2B5EF4-FFF2-40B4-BE49-F238E27FC236}">
                <a16:creationId xmlns:a16="http://schemas.microsoft.com/office/drawing/2014/main" id="{4E9881B3-5908-4B83-8DC4-53E1C47363C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3">
            <a:extLst xmlns:a="http://schemas.openxmlformats.org/drawingml/2006/main">
              <a:ext uri="{FF2B5EF4-FFF2-40B4-BE49-F238E27FC236}">
                <a16:creationId xmlns:a16="http://schemas.microsoft.com/office/drawing/2014/main" id="{1E8795E2-0D33-4480-B4EA-E8B14C7372D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4">
            <a:extLst xmlns:a="http://schemas.openxmlformats.org/drawingml/2006/main">
              <a:ext uri="{FF2B5EF4-FFF2-40B4-BE49-F238E27FC236}">
                <a16:creationId xmlns:a16="http://schemas.microsoft.com/office/drawing/2014/main" id="{A201EA3C-D084-4869-AB86-247DB70F088F}"/>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5">
            <a:extLst xmlns:a="http://schemas.openxmlformats.org/drawingml/2006/main">
              <a:ext uri="{FF2B5EF4-FFF2-40B4-BE49-F238E27FC236}">
                <a16:creationId xmlns:a16="http://schemas.microsoft.com/office/drawing/2014/main" id="{982B4A66-AE1D-4D65-811A-0F16C9A97656}"/>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6">
            <a:extLst xmlns:a="http://schemas.openxmlformats.org/drawingml/2006/main">
              <a:ext uri="{FF2B5EF4-FFF2-40B4-BE49-F238E27FC236}">
                <a16:creationId xmlns:a16="http://schemas.microsoft.com/office/drawing/2014/main" id="{55067A36-BA65-4CF5-A59C-94C75AE471FA}"/>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7">
            <a:extLst xmlns:a="http://schemas.openxmlformats.org/drawingml/2006/main">
              <a:ext uri="{FF2B5EF4-FFF2-40B4-BE49-F238E27FC236}">
                <a16:creationId xmlns:a16="http://schemas.microsoft.com/office/drawing/2014/main" id="{CF8B9EC9-5A19-40B5-8E05-319731A64A98}"/>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8">
            <a:extLst xmlns:a="http://schemas.openxmlformats.org/drawingml/2006/main">
              <a:ext uri="{FF2B5EF4-FFF2-40B4-BE49-F238E27FC236}">
                <a16:creationId xmlns:a16="http://schemas.microsoft.com/office/drawing/2014/main" id="{FFCE404C-9C7F-44AB-929D-FF06B7804FA9}"/>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9">
            <a:extLst xmlns:a="http://schemas.openxmlformats.org/drawingml/2006/main">
              <a:ext uri="{FF2B5EF4-FFF2-40B4-BE49-F238E27FC236}">
                <a16:creationId xmlns:a16="http://schemas.microsoft.com/office/drawing/2014/main" id="{1C746BF9-0592-44E7-A123-42907D0CED35}"/>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Website checks, minor fixes,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technical assistance</a:t>
            </a:r>
          </a:p>
        </p:txBody>
      </p:sp>
      <p:sp>
        <p:nvSpPr>
          <p:cNvPr id="10" name="text-30">
            <a:extLst xmlns:a="http://schemas.openxmlformats.org/drawingml/2006/main">
              <a:ext uri="{FF2B5EF4-FFF2-40B4-BE49-F238E27FC236}">
                <a16:creationId xmlns:a16="http://schemas.microsoft.com/office/drawing/2014/main" id="{094166D0-A334-42FF-B4BD-BEF66A1A6686}"/>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1">
            <a:extLst xmlns:a="http://schemas.openxmlformats.org/drawingml/2006/main">
              <a:ext uri="{FF2B5EF4-FFF2-40B4-BE49-F238E27FC236}">
                <a16:creationId xmlns:a16="http://schemas.microsoft.com/office/drawing/2014/main" id="{151FC782-B0FF-4C66-8560-3FC03EE270DA}"/>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2">
            <a:extLst xmlns:a="http://schemas.openxmlformats.org/drawingml/2006/main">
              <a:ext uri="{FF2B5EF4-FFF2-40B4-BE49-F238E27FC236}">
                <a16:creationId xmlns:a16="http://schemas.microsoft.com/office/drawing/2014/main" id="{03BDD286-0575-440B-9848-5044D2DABBB8}"/>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Promotional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using approved brand templates</a:t>
            </a:r>
          </a:p>
        </p:txBody>
      </p:sp>
      <p:sp>
        <p:nvSpPr>
          <p:cNvPr id="13" name="text-33">
            <a:extLst xmlns:a="http://schemas.openxmlformats.org/drawingml/2006/main">
              <a:ext uri="{FF2B5EF4-FFF2-40B4-BE49-F238E27FC236}">
                <a16:creationId xmlns:a16="http://schemas.microsoft.com/office/drawing/2014/main" id="{DED7F1FF-1984-41FD-B2F9-D6EC89F92712}"/>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4">
            <a:extLst xmlns:a="http://schemas.openxmlformats.org/drawingml/2006/main">
              <a:ext uri="{FF2B5EF4-FFF2-40B4-BE49-F238E27FC236}">
                <a16:creationId xmlns:a16="http://schemas.microsoft.com/office/drawing/2014/main" id="{3E09FDC4-3D95-4B3E-9DDB-890C06DB91B0}"/>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preparation</a:t>
            </a:r>
          </a:p>
        </p:txBody>
      </p:sp>
      <p:sp>
        <p:nvSpPr>
          <p:cNvPr id="15" name="text-35">
            <a:extLst xmlns:a="http://schemas.openxmlformats.org/drawingml/2006/main">
              <a:ext uri="{FF2B5EF4-FFF2-40B4-BE49-F238E27FC236}">
                <a16:creationId xmlns:a16="http://schemas.microsoft.com/office/drawing/2014/main" id="{B6AA6B23-C502-4A27-B869-9D3098C3C60A}"/>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formatting</a:t>
            </a:r>
          </a:p>
        </p:txBody>
      </p:sp>
      <p:sp>
        <p:nvSpPr>
          <p:cNvPr id="16" name="text-36">
            <a:extLst xmlns:a="http://schemas.openxmlformats.org/drawingml/2006/main">
              <a:ext uri="{FF2B5EF4-FFF2-40B4-BE49-F238E27FC236}">
                <a16:creationId xmlns:a16="http://schemas.microsoft.com/office/drawing/2014/main" id="{40427C9D-964E-4ECC-A812-0968FC34D0B3}"/>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One person to contact. The team prepares the work for your approval.</a:t>
            </a:r>
          </a:p>
        </p:txBody>
      </p:sp>
    </p:spTree>
    <p:extLst>
      <p:ext uri="{BB962C8B-B14F-4D97-AF65-F5344CB8AC3E}">
        <p14:creationId xmlns:p14="http://schemas.microsoft.com/office/powerpoint/2010/main" val="693510806"/>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7">
            <a:extLst xmlns:a="http://schemas.openxmlformats.org/drawingml/2006/main">
              <a:ext uri="{FF2B5EF4-FFF2-40B4-BE49-F238E27FC236}">
                <a16:creationId xmlns:a16="http://schemas.microsoft.com/office/drawing/2014/main" id="{826C748A-D447-4519-A453-52DFAF0FFC3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8">
            <a:extLst xmlns:a="http://schemas.openxmlformats.org/drawingml/2006/main">
              <a:ext uri="{FF2B5EF4-FFF2-40B4-BE49-F238E27FC236}">
                <a16:creationId xmlns:a16="http://schemas.microsoft.com/office/drawing/2014/main" id="{A3CF1362-3F01-4C66-9255-F61DADE4CD4F}"/>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9">
            <a:extLst xmlns:a="http://schemas.openxmlformats.org/drawingml/2006/main">
              <a:ext uri="{FF2B5EF4-FFF2-40B4-BE49-F238E27FC236}">
                <a16:creationId xmlns:a16="http://schemas.microsoft.com/office/drawing/2014/main" id="{04A5B792-E5AC-4FA1-A8B6-E9B435AA0B0C}"/>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3CF6CE29-650D-41DB-96C1-63D36F759D27}"/>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40">
            <a:extLst xmlns:a="http://schemas.openxmlformats.org/drawingml/2006/main">
              <a:ext uri="{FF2B5EF4-FFF2-40B4-BE49-F238E27FC236}">
                <a16:creationId xmlns:a16="http://schemas.microsoft.com/office/drawing/2014/main" id="{F9E29DBE-4091-48A0-8ACA-CEAE59C15F08}"/>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1">
            <a:extLst xmlns:a="http://schemas.openxmlformats.org/drawingml/2006/main">
              <a:ext uri="{FF2B5EF4-FFF2-40B4-BE49-F238E27FC236}">
                <a16:creationId xmlns:a16="http://schemas.microsoft.com/office/drawing/2014/main" id="{19B2B43D-BA14-4B36-8FC7-2F6F7E515416}"/>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Use the same approved story and photos across the newsletter and graphics.</a:t>
            </a:r>
          </a:p>
        </p:txBody>
      </p:sp>
    </p:spTree>
    <p:extLst>
      <p:ext uri="{BB962C8B-B14F-4D97-AF65-F5344CB8AC3E}">
        <p14:creationId xmlns:p14="http://schemas.microsoft.com/office/powerpoint/2010/main" val="1533109499"/>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2">
            <a:extLst xmlns:a="http://schemas.openxmlformats.org/drawingml/2006/main">
              <a:ext uri="{FF2B5EF4-FFF2-40B4-BE49-F238E27FC236}">
                <a16:creationId xmlns:a16="http://schemas.microsoft.com/office/drawing/2014/main" id="{5A269657-32C7-45BF-9265-8990AE758DB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3">
            <a:extLst xmlns:a="http://schemas.openxmlformats.org/drawingml/2006/main">
              <a:ext uri="{FF2B5EF4-FFF2-40B4-BE49-F238E27FC236}">
                <a16:creationId xmlns:a16="http://schemas.microsoft.com/office/drawing/2014/main" id="{04B004C7-E66D-441E-AE82-5EC9DC74A885}"/>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4">
            <a:extLst xmlns:a="http://schemas.openxmlformats.org/drawingml/2006/main">
              <a:ext uri="{FF2B5EF4-FFF2-40B4-BE49-F238E27FC236}">
                <a16:creationId xmlns:a16="http://schemas.microsoft.com/office/drawing/2014/main" id="{A6A5FAD5-A5CE-4252-8ACF-7C5DEA0D0033}"/>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5">
            <a:extLst xmlns:a="http://schemas.openxmlformats.org/drawingml/2006/main">
              <a:ext uri="{FF2B5EF4-FFF2-40B4-BE49-F238E27FC236}">
                <a16:creationId xmlns:a16="http://schemas.microsoft.com/office/drawing/2014/main" id="{BF7001DB-368E-4C8A-A692-C28FB4B67322}"/>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6">
            <a:extLst xmlns:a="http://schemas.openxmlformats.org/drawingml/2006/main">
              <a:ext uri="{FF2B5EF4-FFF2-40B4-BE49-F238E27FC236}">
                <a16:creationId xmlns:a16="http://schemas.microsoft.com/office/drawing/2014/main" id="{E7D1CB2F-A7C2-4A5C-B7BB-E054CE961F44}"/>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7">
            <a:extLst xmlns:a="http://schemas.openxmlformats.org/drawingml/2006/main">
              <a:ext uri="{FF2B5EF4-FFF2-40B4-BE49-F238E27FC236}">
                <a16:creationId xmlns:a16="http://schemas.microsoft.com/office/drawing/2014/main" id="{B74B1040-28EC-40D2-B5BD-CC890F1537AA}"/>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8">
            <a:extLst xmlns:a="http://schemas.openxmlformats.org/drawingml/2006/main">
              <a:ext uri="{FF2B5EF4-FFF2-40B4-BE49-F238E27FC236}">
                <a16:creationId xmlns:a16="http://schemas.microsoft.com/office/drawing/2014/main" id="{F51C7EE4-97AE-4494-80AE-B297143922D2}"/>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9">
            <a:extLst xmlns:a="http://schemas.openxmlformats.org/drawingml/2006/main">
              <a:ext uri="{FF2B5EF4-FFF2-40B4-BE49-F238E27FC236}">
                <a16:creationId xmlns:a16="http://schemas.microsoft.com/office/drawing/2014/main" id="{64FD3B39-E69A-4368-81CE-5F51C6BDFE45}"/>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50">
            <a:extLst xmlns:a="http://schemas.openxmlformats.org/drawingml/2006/main">
              <a:ext uri="{FF2B5EF4-FFF2-40B4-BE49-F238E27FC236}">
                <a16:creationId xmlns:a16="http://schemas.microsoft.com/office/drawing/2014/main" id="{64E0FA6C-B27D-4FEA-86B5-FD41835BFF8F}"/>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agrees the deliverables, revisions, and delivery dates.</a:t>
            </a:r>
          </a:p>
        </p:txBody>
      </p:sp>
      <p:sp>
        <p:nvSpPr>
          <p:cNvPr id="10" name="text-51">
            <a:extLst xmlns:a="http://schemas.openxmlformats.org/drawingml/2006/main">
              <a:ext uri="{FF2B5EF4-FFF2-40B4-BE49-F238E27FC236}">
                <a16:creationId xmlns:a16="http://schemas.microsoft.com/office/drawing/2014/main" id="{A2EFEE00-FC3E-4A52-A8C0-70B7EC266217}"/>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2">
            <a:extLst xmlns:a="http://schemas.openxmlformats.org/drawingml/2006/main">
              <a:ext uri="{FF2B5EF4-FFF2-40B4-BE49-F238E27FC236}">
                <a16:creationId xmlns:a16="http://schemas.microsoft.com/office/drawing/2014/main" id="{00964EFD-C869-4CC3-B382-C5F84B47BBC4}"/>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3">
            <a:extLst xmlns:a="http://schemas.openxmlformats.org/drawingml/2006/main">
              <a:ext uri="{FF2B5EF4-FFF2-40B4-BE49-F238E27FC236}">
                <a16:creationId xmlns:a16="http://schemas.microsoft.com/office/drawing/2014/main" id="{DC83B0E8-4016-48C8-B278-125AC58507EE}"/>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4">
            <a:extLst xmlns:a="http://schemas.openxmlformats.org/drawingml/2006/main">
              <a:ext uri="{FF2B5EF4-FFF2-40B4-BE49-F238E27FC236}">
                <a16:creationId xmlns:a16="http://schemas.microsoft.com/office/drawing/2014/main" id="{8505BB9B-BC91-4F64-A878-CF9DE5810072}"/>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5">
            <a:extLst xmlns:a="http://schemas.openxmlformats.org/drawingml/2006/main">
              <a:ext uri="{FF2B5EF4-FFF2-40B4-BE49-F238E27FC236}">
                <a16:creationId xmlns:a16="http://schemas.microsoft.com/office/drawing/2014/main" id="{D4F3EBBB-7A80-42C3-95C1-941D44951BF0}"/>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6">
            <a:extLst xmlns:a="http://schemas.openxmlformats.org/drawingml/2006/main">
              <a:ext uri="{FF2B5EF4-FFF2-40B4-BE49-F238E27FC236}">
                <a16:creationId xmlns:a16="http://schemas.microsoft.com/office/drawing/2014/main" id="{05EA02E2-0B10-4A24-A9D7-CFBCD1ECB45A}"/>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remaining tasks, and next priorities.</a:t>
            </a:r>
          </a:p>
        </p:txBody>
      </p:sp>
    </p:spTree>
    <p:extLst>
      <p:ext uri="{BB962C8B-B14F-4D97-AF65-F5344CB8AC3E}">
        <p14:creationId xmlns:p14="http://schemas.microsoft.com/office/powerpoint/2010/main" val="1798916401"/>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57">
            <a:extLst xmlns:a="http://schemas.openxmlformats.org/drawingml/2006/main">
              <a:ext uri="{FF2B5EF4-FFF2-40B4-BE49-F238E27FC236}">
                <a16:creationId xmlns:a16="http://schemas.microsoft.com/office/drawing/2014/main" id="{65C85463-36D0-4460-9BB1-EBA94B1BEF9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58">
            <a:extLst xmlns:a="http://schemas.openxmlformats.org/drawingml/2006/main">
              <a:ext uri="{FF2B5EF4-FFF2-40B4-BE49-F238E27FC236}">
                <a16:creationId xmlns:a16="http://schemas.microsoft.com/office/drawing/2014/main" id="{76A3E38C-3AC3-4B71-AA38-0035FE7C2331}"/>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9">
            <a:extLst xmlns:a="http://schemas.openxmlformats.org/drawingml/2006/main">
              <a:ext uri="{FF2B5EF4-FFF2-40B4-BE49-F238E27FC236}">
                <a16:creationId xmlns:a16="http://schemas.microsoft.com/office/drawing/2014/main" id="{03B5935D-C6E5-4FC1-B6A3-86A5828034F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sp>
        <p:nvSpPr>
          <p:cNvPr id="4" name="text-60">
            <a:extLst xmlns:a="http://schemas.openxmlformats.org/drawingml/2006/main">
              <a:ext uri="{FF2B5EF4-FFF2-40B4-BE49-F238E27FC236}">
                <a16:creationId xmlns:a16="http://schemas.microsoft.com/office/drawing/2014/main" id="{582D31A5-D5B6-4099-9ABD-96823FD8EB03}"/>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1">
            <a:extLst xmlns:a="http://schemas.openxmlformats.org/drawingml/2006/main">
              <a:ext uri="{FF2B5EF4-FFF2-40B4-BE49-F238E27FC236}">
                <a16:creationId xmlns:a16="http://schemas.microsoft.com/office/drawing/2014/main" id="{92174F62-22F1-488F-B8BE-5077E11A024E}"/>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2">
            <a:extLst xmlns:a="http://schemas.openxmlformats.org/drawingml/2006/main">
              <a:ext uri="{FF2B5EF4-FFF2-40B4-BE49-F238E27FC236}">
                <a16:creationId xmlns:a16="http://schemas.microsoft.com/office/drawing/2014/main" id="{3101EB3E-483C-44EB-BC37-FC40A6455787}"/>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3">
            <a:extLst xmlns:a="http://schemas.openxmlformats.org/drawingml/2006/main">
              <a:ext uri="{FF2B5EF4-FFF2-40B4-BE49-F238E27FC236}">
                <a16:creationId xmlns:a16="http://schemas.microsoft.com/office/drawing/2014/main" id="{025D1764-7B36-4635-AA9F-BD0A789BAC54}"/>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4">
            <a:extLst xmlns:a="http://schemas.openxmlformats.org/drawingml/2006/main">
              <a:ext uri="{FF2B5EF4-FFF2-40B4-BE49-F238E27FC236}">
                <a16:creationId xmlns:a16="http://schemas.microsoft.com/office/drawing/2014/main" id="{328BA907-2FA0-435D-A78E-11075A5DBCF2}"/>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5">
            <a:extLst xmlns:a="http://schemas.openxmlformats.org/drawingml/2006/main">
              <a:ext uri="{FF2B5EF4-FFF2-40B4-BE49-F238E27FC236}">
                <a16:creationId xmlns:a16="http://schemas.microsoft.com/office/drawing/2014/main" id="{E230D070-E3E7-4EE2-9577-F8BD5E1ECC1E}"/>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66">
            <a:extLst xmlns:a="http://schemas.openxmlformats.org/drawingml/2006/main">
              <a:ext uri="{FF2B5EF4-FFF2-40B4-BE49-F238E27FC236}">
                <a16:creationId xmlns:a16="http://schemas.microsoft.com/office/drawing/2014/main" id="{B654B755-696C-45AE-A93B-61ADD29514C1}"/>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67">
            <a:extLst xmlns:a="http://schemas.openxmlformats.org/drawingml/2006/main">
              <a:ext uri="{FF2B5EF4-FFF2-40B4-BE49-F238E27FC236}">
                <a16:creationId xmlns:a16="http://schemas.microsoft.com/office/drawing/2014/main" id="{ED599DFA-7AA4-4DD8-812E-CD7D3D1D003D}"/>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68">
            <a:extLst xmlns:a="http://schemas.openxmlformats.org/drawingml/2006/main">
              <a:ext uri="{FF2B5EF4-FFF2-40B4-BE49-F238E27FC236}">
                <a16:creationId xmlns:a16="http://schemas.microsoft.com/office/drawing/2014/main" id="{551F046F-E5CF-465A-9566-28F8C922D8E4}"/>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69">
            <a:extLst xmlns:a="http://schemas.openxmlformats.org/drawingml/2006/main">
              <a:ext uri="{FF2B5EF4-FFF2-40B4-BE49-F238E27FC236}">
                <a16:creationId xmlns:a16="http://schemas.microsoft.com/office/drawing/2014/main" id="{B0088E19-2667-4B8B-AA55-C5BE2410AD1A}"/>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1419803081"/>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70">
            <a:extLst xmlns:a="http://schemas.openxmlformats.org/drawingml/2006/main">
              <a:ext uri="{FF2B5EF4-FFF2-40B4-BE49-F238E27FC236}">
                <a16:creationId xmlns:a16="http://schemas.microsoft.com/office/drawing/2014/main" id="{E81761D8-F09F-40D2-B4E1-32ED3B6B8B7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1">
            <a:extLst xmlns:a="http://schemas.openxmlformats.org/drawingml/2006/main">
              <a:ext uri="{FF2B5EF4-FFF2-40B4-BE49-F238E27FC236}">
                <a16:creationId xmlns:a16="http://schemas.microsoft.com/office/drawing/2014/main" id="{228B7EC8-5FC1-4142-B31B-AF7B6288041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2">
            <a:extLst xmlns:a="http://schemas.openxmlformats.org/drawingml/2006/main">
              <a:ext uri="{FF2B5EF4-FFF2-40B4-BE49-F238E27FC236}">
                <a16:creationId xmlns:a16="http://schemas.microsoft.com/office/drawing/2014/main" id="{C32E436A-6F65-4D2A-8C94-F7911212E16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73">
            <a:extLst xmlns:a="http://schemas.openxmlformats.org/drawingml/2006/main">
              <a:ext uri="{FF2B5EF4-FFF2-40B4-BE49-F238E27FC236}">
                <a16:creationId xmlns:a16="http://schemas.microsoft.com/office/drawing/2014/main" id="{4F869CB0-66CE-49C3-8844-AA59487A42CF}"/>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4">
            <a:extLst xmlns:a="http://schemas.openxmlformats.org/drawingml/2006/main">
              <a:ext uri="{FF2B5EF4-FFF2-40B4-BE49-F238E27FC236}">
                <a16:creationId xmlns:a16="http://schemas.microsoft.com/office/drawing/2014/main" id="{F3F301D7-4A4A-4A00-9BE2-9EA0069C1D0E}"/>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5">
            <a:extLst xmlns:a="http://schemas.openxmlformats.org/drawingml/2006/main">
              <a:ext uri="{FF2B5EF4-FFF2-40B4-BE49-F238E27FC236}">
                <a16:creationId xmlns:a16="http://schemas.microsoft.com/office/drawing/2014/main" id="{306CCB89-2C6E-441E-A252-6D405F9A674D}"/>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76">
            <a:extLst xmlns:a="http://schemas.openxmlformats.org/drawingml/2006/main">
              <a:ext uri="{FF2B5EF4-FFF2-40B4-BE49-F238E27FC236}">
                <a16:creationId xmlns:a16="http://schemas.microsoft.com/office/drawing/2014/main" id="{F06D8BF0-C6A8-43ED-AA47-B4001D7BD235}"/>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Monthly work and delivery dates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77">
            <a:extLst xmlns:a="http://schemas.openxmlformats.org/drawingml/2006/main">
              <a:ext uri="{FF2B5EF4-FFF2-40B4-BE49-F238E27FC236}">
                <a16:creationId xmlns:a16="http://schemas.microsoft.com/office/drawing/2014/main" id="{392AB449-87A3-43E8-B308-82AC011D2121}"/>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1242911466"/>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78">
            <a:extLst xmlns:a="http://schemas.openxmlformats.org/drawingml/2006/main">
              <a:ext uri="{FF2B5EF4-FFF2-40B4-BE49-F238E27FC236}">
                <a16:creationId xmlns:a16="http://schemas.microsoft.com/office/drawing/2014/main" id="{25270EFB-437D-465E-A0C5-A684AEE9A349}"/>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79">
            <a:extLst xmlns:a="http://schemas.openxmlformats.org/drawingml/2006/main">
              <a:ext uri="{FF2B5EF4-FFF2-40B4-BE49-F238E27FC236}">
                <a16:creationId xmlns:a16="http://schemas.microsoft.com/office/drawing/2014/main" id="{A92800A9-061E-43D3-BE0F-8936E4AE9604}"/>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0">
            <a:extLst xmlns:a="http://schemas.openxmlformats.org/drawingml/2006/main">
              <a:ext uri="{FF2B5EF4-FFF2-40B4-BE49-F238E27FC236}">
                <a16:creationId xmlns:a16="http://schemas.microsoft.com/office/drawing/2014/main" id="{CE1864CE-9328-4341-B960-F69DA26EA08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BA921B50-DC3A-414B-9BBA-45751C9B045C}"/>
              </a:ext>
            </a:extLst>
          </p:cNvPr>
          <p:cNvPicPr>
            <a:picLocks xmlns:a="http://schemas.openxmlformats.org/drawingml/2006/main" noChangeAspect="1"/>
          </p:cNvPicPr>
          <p:nvPr/>
        </p:nvPicPr>
        <p:blipFill>
          <a:blip xmlns:r="http://schemas.openxmlformats.org/officeDocument/2006/relationships" xmlns:a="http://schemas.openxmlformats.org/drawingml/2006/main" r:embed="R88494ed3afba44dd"/>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1">
            <a:extLst xmlns:a="http://schemas.openxmlformats.org/drawingml/2006/main">
              <a:ext uri="{FF2B5EF4-FFF2-40B4-BE49-F238E27FC236}">
                <a16:creationId xmlns:a16="http://schemas.microsoft.com/office/drawing/2014/main" id="{B42091FE-D80A-4749-94BC-38FFD9E9BD07}"/>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2">
            <a:extLst xmlns:a="http://schemas.openxmlformats.org/drawingml/2006/main">
              <a:ext uri="{FF2B5EF4-FFF2-40B4-BE49-F238E27FC236}">
                <a16:creationId xmlns:a16="http://schemas.microsoft.com/office/drawing/2014/main" id="{C2AC588C-C236-419D-8863-FE9CB47771C5}"/>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3">
            <a:extLst xmlns:a="http://schemas.openxmlformats.org/drawingml/2006/main">
              <a:ext uri="{FF2B5EF4-FFF2-40B4-BE49-F238E27FC236}">
                <a16:creationId xmlns:a16="http://schemas.microsoft.com/office/drawing/2014/main" id="{AA9B0FED-A9E4-4A5E-9A88-BD827F2DE5FA}"/>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819bf4311d544251"/>
              </a:rPr>
              <a:t>Reopen the website walkthrough</a:t>
            </a:r>
          </a:p>
        </p:txBody>
      </p:sp>
    </p:spTree>
    <p:extLst>
      <p:ext uri="{BB962C8B-B14F-4D97-AF65-F5344CB8AC3E}">
        <p14:creationId xmlns:p14="http://schemas.microsoft.com/office/powerpoint/2010/main" val="648373615"/>
      </p:ext>
    </p:extLst>
  </p:cSld>
</p:sld>
</file>

<file path=ppt/slides/slide11.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84">
            <a:extLst xmlns:a="http://schemas.openxmlformats.org/drawingml/2006/main">
              <a:ext uri="{FF2B5EF4-FFF2-40B4-BE49-F238E27FC236}">
                <a16:creationId xmlns:a16="http://schemas.microsoft.com/office/drawing/2014/main" id="{9B4F9AD6-ED11-4CFA-A39B-5EC6A322AD0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Optional pricing discussion</a:t>
            </a:r>
          </a:p>
        </p:txBody>
      </p:sp>
      <p:sp>
        <p:nvSpPr>
          <p:cNvPr id="2" name="text-85">
            <a:extLst xmlns:a="http://schemas.openxmlformats.org/drawingml/2006/main">
              <a:ext uri="{FF2B5EF4-FFF2-40B4-BE49-F238E27FC236}">
                <a16:creationId xmlns:a16="http://schemas.microsoft.com/office/drawing/2014/main" id="{CA9CFCB0-27B5-49CA-BD3C-D565C2D02D92}"/>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6">
            <a:extLst xmlns:a="http://schemas.openxmlformats.org/drawingml/2006/main">
              <a:ext uri="{FF2B5EF4-FFF2-40B4-BE49-F238E27FC236}">
                <a16:creationId xmlns:a16="http://schemas.microsoft.com/office/drawing/2014/main" id="{CF9072F7-6D42-4AC0-987F-A602EA914DD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14731345-BD70-4AB4-B764-7F572964BE5C}"/>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2762250"/>
                <a:gridCol w="3333750"/>
                <a:gridCol w="476250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&amp; content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fee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$700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Focus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Website care plus regular content preparation</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Example work</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Agreed checks and minor changes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Newsletter, graphics, and content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manages routine content</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wants help preparing and publishing content</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87">
            <a:extLst xmlns:a="http://schemas.openxmlformats.org/drawingml/2006/main">
              <a:ext uri="{FF2B5EF4-FFF2-40B4-BE49-F238E27FC236}">
                <a16:creationId xmlns:a16="http://schemas.microsoft.com/office/drawing/2014/main" id="{85CD6AFF-05F1-4BCD-8CB4-53318B808A6C}"/>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Provisional figures. Confirm team costs and scope before a final quote.</a:t>
            </a:r>
          </a:p>
        </p:txBody>
      </p:sp>
      <p:sp>
        <p:nvSpPr>
          <p:cNvPr id="6" name="text-88">
            <a:extLst xmlns:a="http://schemas.openxmlformats.org/drawingml/2006/main">
              <a:ext uri="{FF2B5EF4-FFF2-40B4-BE49-F238E27FC236}">
                <a16:creationId xmlns:a16="http://schemas.microsoft.com/office/drawing/2014/main" id="{9E9FF871-AFAB-4813-BE4C-E3BDD1E6B7BB}"/>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The separate proposal defines scope, revisions, capacity, and trial terms.</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Example quantities need a team estimate. Provider fees are separate.</a:t>
            </a:r>
          </a:p>
        </p:txBody>
      </p:sp>
    </p:spTree>
    <p:extLst>
      <p:ext uri="{BB962C8B-B14F-4D97-AF65-F5344CB8AC3E}">
        <p14:creationId xmlns:p14="http://schemas.microsoft.com/office/powerpoint/2010/main" val="1695040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2026-10-29T21:32:24.1320000Z</dcterms:created>
  <dcterms:modified xsi:type="dcterms:W3CDTF">2026-10-29T21:32:24.1320000Z</dcterms:modified>
</coreProperties>
</file>